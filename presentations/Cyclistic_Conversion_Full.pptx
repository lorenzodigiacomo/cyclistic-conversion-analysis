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C06A2C"/>
            </a:solidFill>
          </c:spPr>
          <c:cat>
            <c:strRef>
              <c:f>Sheet1!$A$2:$A$3</c:f>
              <c:strCache>
                <c:ptCount val="2"/>
                <c:pt idx="0">
                  <c:v>Median ride (min)</c:v>
                </c:pt>
                <c:pt idx="1">
                  <c:v>Rides in commute window (%)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2962A6"/>
            </a:solidFill>
          </c:spPr>
          <c:cat>
            <c:strRef>
              <c:f>Sheet1!$A$2:$A$3</c:f>
              <c:strCache>
                <c:ptCount val="2"/>
                <c:pt idx="0">
                  <c:v>Median ride (min)</c:v>
                </c:pt>
                <c:pt idx="1">
                  <c:v>Rides in commute window (%)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</c:v>
                </c:pt>
                <c:pt idx="1">
                  <c:v>28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1C1C1C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FE6"/>
            </a:solidFill>
          </a:ln>
        </c:spPr>
        <c:txPr>
          <a:bodyPr/>
          <a:lstStyle/>
          <a:p>
            <a:pPr>
              <a:defRPr sz="1100">
                <a:solidFill>
                  <a:srgbClr val="1C1C1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solidFill>
              <a:srgbClr val="D9DFE6"/>
            </a:solidFill>
          </a:ln>
        </c:spPr>
        <c:txPr>
          <a:bodyPr/>
          <a:lstStyle/>
          <a:p>
            <a:pPr>
              <a:defRPr sz="1100">
                <a:solidFill>
                  <a:srgbClr val="677382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solidFill>
                <a:srgbClr val="677382"/>
              </a:solidFill>
            </a:defRPr>
          </a:pPr>
        </a:p>
      </c:txPr>
    </c:legend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ln w="34925">
              <a:solidFill>
                <a:srgbClr val="C06A2C"/>
              </a:solidFill>
            </a:ln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6</c:v>
                </c:pt>
                <c:pt idx="1">
                  <c:v>12</c:v>
                </c:pt>
                <c:pt idx="2">
                  <c:v>26</c:v>
                </c:pt>
                <c:pt idx="3">
                  <c:v>34</c:v>
                </c:pt>
                <c:pt idx="4">
                  <c:v>30</c:v>
                </c:pt>
                <c:pt idx="5">
                  <c:v>34</c:v>
                </c:pt>
                <c:pt idx="6">
                  <c:v>40</c:v>
                </c:pt>
                <c:pt idx="7">
                  <c:v>48</c:v>
                </c:pt>
                <c:pt idx="8">
                  <c:v>56</c:v>
                </c:pt>
                <c:pt idx="9">
                  <c:v>64</c:v>
                </c:pt>
                <c:pt idx="10">
                  <c:v>78</c:v>
                </c:pt>
                <c:pt idx="11">
                  <c:v>92</c:v>
                </c:pt>
                <c:pt idx="12">
                  <c:v>88</c:v>
                </c:pt>
                <c:pt idx="13">
                  <c:v>74</c:v>
                </c:pt>
                <c:pt idx="14">
                  <c:v>58</c:v>
                </c:pt>
                <c:pt idx="15">
                  <c:v>44</c:v>
                </c:pt>
                <c:pt idx="16">
                  <c:v>32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Members</c:v>
                </c:pt>
              </c:strCache>
            </c:strRef>
          </c:tx>
          <c:spPr>
            <a:ln w="34925">
              <a:solidFill>
                <a:srgbClr val="2962A6"/>
              </a:solidFill>
            </a:ln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12</c:v>
                </c:pt>
                <c:pt idx="1">
                  <c:v>30</c:v>
                </c:pt>
                <c:pt idx="2">
                  <c:v>78</c:v>
                </c:pt>
                <c:pt idx="3">
                  <c:v>100</c:v>
                </c:pt>
                <c:pt idx="4">
                  <c:v>60</c:v>
                </c:pt>
                <c:pt idx="5">
                  <c:v>45</c:v>
                </c:pt>
                <c:pt idx="6">
                  <c:v>42</c:v>
                </c:pt>
                <c:pt idx="7">
                  <c:v>48</c:v>
                </c:pt>
                <c:pt idx="8">
                  <c:v>55</c:v>
                </c:pt>
                <c:pt idx="9">
                  <c:v>62</c:v>
                </c:pt>
                <c:pt idx="10">
                  <c:v>78</c:v>
                </c:pt>
                <c:pt idx="11">
                  <c:v>100</c:v>
                </c:pt>
                <c:pt idx="12">
                  <c:v>92</c:v>
                </c:pt>
                <c:pt idx="13">
                  <c:v>60</c:v>
                </c:pt>
                <c:pt idx="14">
                  <c:v>38</c:v>
                </c:pt>
                <c:pt idx="15">
                  <c:v>26</c:v>
                </c:pt>
                <c:pt idx="16">
                  <c:v>18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FE6"/>
            </a:solidFill>
          </a:ln>
        </c:spPr>
        <c:txPr>
          <a:bodyPr/>
          <a:lstStyle/>
          <a:p>
            <a:pPr>
              <a:defRPr sz="1100">
                <a:solidFill>
                  <a:srgbClr val="1C1C1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spPr>
          <a:ln>
            <a:solidFill>
              <a:srgbClr val="D9DFE6"/>
            </a:solidFill>
          </a:ln>
        </c:spPr>
        <c:txPr>
          <a:bodyPr/>
          <a:lstStyle/>
          <a:p>
            <a:pPr>
              <a:defRPr sz="1100">
                <a:solidFill>
                  <a:srgbClr val="677382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>
              <a:solidFill>
                <a:srgbClr val="677382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148840"/>
            <a:ext cx="502920" cy="64008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114300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3800" b="1" i="0">
                <a:solidFill>
                  <a:srgbClr val="1C1C1C"/>
                </a:solidFill>
                <a:latin typeface="Trebuchet MS"/>
              </a:rPr>
              <a:t>Casual-to-member conversion:</a:t>
            </a:r>
          </a:p>
          <a:p>
            <a:pPr algn="l">
              <a:lnSpc>
                <a:spcPct val="107000"/>
              </a:lnSpc>
            </a:pPr>
            <a:r>
              <a:rPr sz="3800" b="1" i="0">
                <a:solidFill>
                  <a:srgbClr val="C06A2C"/>
                </a:solidFill>
                <a:latin typeface="Trebuchet MS"/>
              </a:rPr>
              <a:t>a behavioural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677382"/>
                </a:solidFill>
                <a:latin typeface="Arial"/>
              </a:rPr>
              <a:t>Full analysis: behaviour, method, segments, and a conversion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00">
                <a:solidFill>
                  <a:srgbClr val="677382"/>
                </a:solidFill>
                <a:latin typeface="Trebuchet MS"/>
              </a:rPr>
              <a:t>Chicago bike-share  ·  5.84 M rides  ·  12 months (Jun 2025 – May 2026)  ·  Divvy public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83387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769864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06A2C"/>
                </a:solidFill>
                <a:latin typeface="Arial"/>
              </a:rPr>
              <a:t>Casual riders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583387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5769864"/>
            <a:ext cx="2560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962A6"/>
                </a:solidFill>
                <a:latin typeface="Arial"/>
              </a:rPr>
              <a:t>Annual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677382"/>
                </a:solidFill>
                <a:latin typeface="Trebuchet MS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What this deck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962A6"/>
                </a:solidFill>
                <a:latin typeface="Trebuchet M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659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C1C"/>
                </a:solidFill>
                <a:latin typeface="Arial"/>
              </a:rPr>
              <a:t>The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5000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Why conversion, and what we ask of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39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962A6"/>
                </a:solidFill>
                <a:latin typeface="Trebuchet M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91839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C1C"/>
                </a:solidFill>
                <a:latin typeface="Arial"/>
              </a:rPr>
              <a:t>How casual differs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75887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Duration, timing and the weekday rhythm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962A6"/>
                </a:solidFill>
                <a:latin typeface="Trebuchet M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6177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C1C"/>
                </a:solidFill>
                <a:latin typeface="Arial"/>
              </a:rP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00176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Features, clustering, and choosing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962A6"/>
                </a:solidFill>
                <a:latin typeface="Trebuchet M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9659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C1C"/>
                </a:solidFill>
                <a:latin typeface="Arial"/>
              </a:rPr>
              <a:t>The three segments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35000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Profiles ranked by member similarity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91839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962A6"/>
                </a:solidFill>
                <a:latin typeface="Trebuchet M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291839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C1C"/>
                </a:solidFill>
                <a:latin typeface="Arial"/>
              </a:rPr>
              <a:t>Priority &amp;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675887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Where to focus and concrete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1772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962A6"/>
                </a:solidFill>
                <a:latin typeface="Trebuchet M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6177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C1C"/>
                </a:solidFill>
                <a:latin typeface="Arial"/>
              </a:rPr>
              <a:t>Limits &amp; 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00176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What the analysis can and cannot say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01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Which casual riders are worth converting?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1C1C"/>
                </a:solidFill>
                <a:latin typeface="Arial"/>
              </a:rPr>
              <a:t>Cyclistic has two user types — </a:t>
            </a:r>
            <a:r>
              <a:rPr sz="1500" b="1" i="0">
                <a:solidFill>
                  <a:srgbClr val="C06A2C"/>
                </a:solidFill>
                <a:latin typeface="Arial"/>
              </a:rPr>
              <a:t>casual riders</a:t>
            </a:r>
            <a:r>
              <a:rPr sz="1500" b="0" i="0">
                <a:solidFill>
                  <a:srgbClr val="1C1C1C"/>
                </a:solidFill>
                <a:latin typeface="Arial"/>
              </a:rPr>
              <a:t> (single / day pass) and </a:t>
            </a:r>
            <a:r>
              <a:rPr sz="1500" b="1" i="0">
                <a:solidFill>
                  <a:srgbClr val="2962A6"/>
                </a:solidFill>
                <a:latin typeface="Arial"/>
              </a:rPr>
              <a:t>annual members</a:t>
            </a:r>
            <a:r>
              <a:rPr sz="1500" b="0" i="0">
                <a:solidFill>
                  <a:srgbClr val="1C1C1C"/>
                </a:solidFill>
                <a:latin typeface="Arial"/>
              </a:rPr>
              <a:t>. Converting the right casual riders is the cheapest growth lever.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64008" cy="713232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05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06A2C"/>
                </a:solidFill>
                <a:latin typeface="Trebuchet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743200"/>
            <a:ext cx="9326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1C1C1C"/>
                </a:solidFill>
                <a:latin typeface="Arial"/>
              </a:rPr>
              <a:t>Do casual riders behave differently from members?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3474720"/>
            <a:ext cx="9326880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639312"/>
            <a:ext cx="64008" cy="713232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39312"/>
            <a:ext cx="1005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06A2C"/>
                </a:solidFill>
                <a:latin typeface="Trebuchet M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639312"/>
            <a:ext cx="9326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1C1C1C"/>
                </a:solidFill>
                <a:latin typeface="Arial"/>
              </a:rPr>
              <a:t>Are casual riders one group — or several distinct profiles?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4370832"/>
            <a:ext cx="9326880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535424"/>
            <a:ext cx="64008" cy="713232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35424"/>
            <a:ext cx="1005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06A2C"/>
                </a:solidFill>
                <a:latin typeface="Trebuchet M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535424"/>
            <a:ext cx="9326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1C1C1C"/>
                </a:solidFill>
                <a:latin typeface="Arial"/>
              </a:rPr>
              <a:t>Which profiles look most like members, and are big enough to target?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83080" y="5266944"/>
            <a:ext cx="9326880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559552"/>
            <a:ext cx="11091672" cy="566928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59552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6A2C"/>
                </a:solidFill>
                <a:latin typeface="Arial"/>
              </a:rPr>
              <a:t>Note  </a:t>
            </a:r>
            <a:r>
              <a:rPr sz="1200" b="0" i="0">
                <a:solidFill>
                  <a:srgbClr val="1C1C1C"/>
                </a:solidFill>
                <a:latin typeface="Arial"/>
              </a:rPr>
              <a:t>Segmentation is at ride level — no persistent user ID — so clusters describe patterns of behaviour, not individual people.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02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12 months of Chicago bike-share trips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1C1C"/>
                </a:solidFill>
                <a:latin typeface="Trebuchet MS"/>
              </a:rPr>
              <a:t>5.84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32888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rides analysed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9659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1C1C"/>
                </a:solidFill>
                <a:latin typeface="Trebuchet M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532888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months (rolling window)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9659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1C1C"/>
                </a:solidFill>
                <a:latin typeface="Trebuchet MS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532888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fields per ride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9659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962A6"/>
                </a:solidFill>
                <a:latin typeface="Trebuchet MS"/>
              </a:rPr>
              <a:t>Divvy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532888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public open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54680"/>
            <a:ext cx="11091672" cy="1270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C1C1C"/>
                </a:solidFill>
                <a:latin typeface="Arial"/>
              </a:rPr>
              <a:t>The split: of every 100 rides, </a:t>
            </a:r>
            <a:r>
              <a:rPr sz="1500" b="1" i="0">
                <a:solidFill>
                  <a:srgbClr val="C06A2C"/>
                </a:solidFill>
                <a:latin typeface="Arial"/>
              </a:rPr>
              <a:t>~36 are casual</a:t>
            </a:r>
            <a:r>
              <a:rPr sz="1500" b="0" i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7109761" cy="658368"/>
          </a:xfrm>
          <a:prstGeom prst="roundRect">
            <a:avLst>
              <a:gd name="adj" fmla="val 12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86200"/>
            <a:ext cx="710976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Members  64.1%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58401" y="3886200"/>
            <a:ext cx="3981910" cy="658368"/>
          </a:xfrm>
          <a:prstGeom prst="roundRect">
            <a:avLst>
              <a:gd name="adj" fmla="val 12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8401" y="3886200"/>
            <a:ext cx="398191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Casual  35.9%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28616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8920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Cleaned in a separate, documented pipeline (notebook 01).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30368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193792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Rides with missing end-GPS and timestamp errors removed (&lt;0.2%).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32120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49554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Free-floating e-bikes legitimately have no end-station — kept by design.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33872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97296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Features engineered: duration, distance, speed, weekend, commute window, e-bike, season.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02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FIRST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Casual and member riders use the service differently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2011680"/>
          <a:ext cx="65836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06640" y="219456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9248" y="211226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1C1C"/>
                </a:solidFill>
                <a:latin typeface="Arial"/>
              </a:rPr>
              <a:t>Longer casual rides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2450592"/>
            <a:ext cx="3931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Casual median is 11 min vs 9 for members — and the casual mean is pulled far higher by long recreational trips.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47472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339242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1C1C"/>
                </a:solidFill>
                <a:latin typeface="Arial"/>
              </a:rPr>
              <a:t>Members commute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3730752"/>
            <a:ext cx="3931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28% of member rides fall in commute windows vs 17% for casual.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47548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467258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1C1C"/>
                </a:solidFill>
                <a:latin typeface="Arial"/>
              </a:rPr>
              <a:t>Casual skews to weekends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5010912"/>
            <a:ext cx="3931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Recreation, not routine, dominates casual demand.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02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THE WEEKDAY RHYTHM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The morning peak is where members stand alone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2057400"/>
          <a:ext cx="731520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2331720"/>
            <a:ext cx="3611880" cy="320040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2560320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C06A2C"/>
                </a:solidFill>
                <a:latin typeface="Trebuchet MS"/>
              </a:rPr>
              <a:t>WHAT TO 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944368"/>
            <a:ext cx="31089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1C1C1C"/>
                </a:solidFill>
                <a:latin typeface="Arial"/>
              </a:rPr>
              <a:t>Members show two sharp peaks — morning and evening commute.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1C1C1C"/>
                </a:solidFill>
                <a:latin typeface="Arial"/>
              </a:rPr>
              <a:t>Casual riders </a:t>
            </a:r>
            <a:r>
              <a:rPr sz="1300" b="1" i="0">
                <a:solidFill>
                  <a:srgbClr val="C06A2C"/>
                </a:solidFill>
                <a:latin typeface="Arial"/>
              </a:rPr>
              <a:t>miss the morning peak</a:t>
            </a:r>
            <a:r>
              <a:rPr sz="1300" b="0" i="0">
                <a:solidFill>
                  <a:srgbClr val="1C1C1C"/>
                </a:solidFill>
                <a:latin typeface="Arial"/>
              </a:rPr>
              <a:t> almost entirely, but share the evening one.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1C1C1C"/>
                </a:solidFill>
                <a:latin typeface="Arial"/>
              </a:rPr>
              <a:t>The AM weekday peak is the cleanest signal of member-like behaviour.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77382"/>
                </a:solidFill>
                <a:latin typeface="Arial"/>
              </a:rPr>
              <a:t>Hour of departure (weekdays). Schematic of the documented pattern — relative, not to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2962A6"/>
                </a:solidFill>
                <a:latin typeface="Trebuchet MS"/>
              </a:rPr>
              <a:t>03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How the segments were found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706624" cy="338328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33172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962A6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10896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1C1C"/>
                </a:solidFill>
                <a:latin typeface="Arial"/>
              </a:rPr>
              <a:t>Engineer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794760"/>
            <a:ext cx="224942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8 behavioural features per ride: duration, distance, speed, weekend, commute window, time-of-day, season, e-bike.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2103120"/>
            <a:ext cx="2706624" cy="338328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233172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962A6"/>
                </a:solidFill>
                <a:latin typeface="Trebuchet M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310896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1C1C"/>
                </a:solidFill>
                <a:latin typeface="Arial"/>
              </a:rPr>
              <a:t>Cluster casual rides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3794760"/>
            <a:ext cx="224942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MiniBatch K-Means groups casual rides into behavioural profiles — letting the data define the segments.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103120"/>
            <a:ext cx="2706624" cy="338328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33172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962A6"/>
                </a:solidFill>
                <a:latin typeface="Trebuchet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310896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1C1C"/>
                </a:solidFill>
                <a:latin typeface="Arial"/>
              </a:rPr>
              <a:t>Benchmark vs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794760"/>
            <a:ext cx="224942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Members are clustered the same way; each casual segment is scored by distance to the member profile.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2103120"/>
            <a:ext cx="2706624" cy="338328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233172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962A6"/>
                </a:solidFill>
                <a:latin typeface="Trebuchet M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310896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1C1C"/>
                </a:solidFill>
                <a:latin typeface="Arial"/>
              </a:rPr>
              <a:t>Prioritise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3794760"/>
            <a:ext cx="224942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Combined score = similarity × ride share — balancing behavioural fit against audience size.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2962A6"/>
                </a:solidFill>
                <a:latin typeface="Trebuchet MS"/>
              </a:rPr>
              <a:t>03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Why three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C1C1C"/>
                </a:solidFill>
                <a:latin typeface="Arial"/>
              </a:rPr>
              <a:t>K was chosen empirically — inertia and silhouette compared across K = 2, 3, 4. The inertia curve bends at K=3 (the 2→3 drop is more than twice the 3→4 drop). K=2 would only split weekday vs. weekend — too coarse to act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3611880" cy="219456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2004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1C1C"/>
                </a:solidFill>
                <a:latin typeface="Trebuchet MS"/>
              </a:rPr>
              <a:t>K =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82219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00">
                <a:solidFill>
                  <a:srgbClr val="677382"/>
                </a:solidFill>
                <a:latin typeface="Trebuchet MS"/>
              </a:rPr>
              <a:t>TOO COARSE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20624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Just weekday vs. weekend — not actionable.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971800"/>
            <a:ext cx="3611880" cy="2194560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C06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32004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C06A2C"/>
                </a:solidFill>
                <a:latin typeface="Trebuchet MS"/>
              </a:rPr>
              <a:t>K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382219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00">
                <a:solidFill>
                  <a:srgbClr val="C06A2C"/>
                </a:solidFill>
                <a:latin typeface="Trebuchet MS"/>
              </a:rPr>
              <a:t>CHOSEN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420624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C1C1C"/>
                </a:solidFill>
                <a:latin typeface="Arial"/>
              </a:rPr>
              <a:t>Elbow supports it; three profiles a team can act 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971800"/>
            <a:ext cx="3611880" cy="219456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32004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1C1C"/>
                </a:solidFill>
                <a:latin typeface="Trebuchet MS"/>
              </a:rPr>
              <a:t>K =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82219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00">
                <a:solidFill>
                  <a:srgbClr val="677382"/>
                </a:solidFill>
                <a:latin typeface="Trebuchet MS"/>
              </a:rPr>
              <a:t>MARGINAL GAIN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420624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Little extra separation for added complexity.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11091672" cy="658368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06A2C"/>
                </a:solidFill>
                <a:latin typeface="Arial"/>
              </a:rPr>
              <a:t>Note  </a:t>
            </a:r>
            <a:r>
              <a:rPr sz="1200" b="0" i="0">
                <a:solidFill>
                  <a:srgbClr val="1C1C1C"/>
                </a:solidFill>
                <a:latin typeface="Arial"/>
              </a:rPr>
              <a:t>Silhouette scores are modest in absolute terms — segments are soft behavioural regions, not sharply separated groups. Useful for targeting, not hard borders.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04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THE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Three profiles, ranked by member similarity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611880" cy="393192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611880" cy="9144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C1C"/>
                </a:solidFill>
                <a:latin typeface="Trebuchet MS"/>
              </a:rPr>
              <a:t>E-Bike Riders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301752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FFFFFF"/>
                </a:solidFill>
                <a:latin typeface="Trebuchet MS"/>
              </a:rPr>
              <a:t>HIGH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57600"/>
            <a:ext cx="1554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C06A2C"/>
                </a:solidFill>
                <a:latin typeface="Trebuchet MS"/>
              </a:rPr>
              <a:t>52.1%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7382"/>
                </a:solidFill>
                <a:latin typeface="Arial"/>
              </a:rPr>
              <a:t>of casual rides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657600"/>
            <a:ext cx="1463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962A6"/>
                </a:solidFill>
                <a:latin typeface="Trebuchet MS"/>
              </a:rPr>
              <a:t>0.65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7382"/>
                </a:solidFill>
                <a:latin typeface="Arial"/>
              </a:rPr>
              <a:t>similarity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66344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Short, purposeful trips on weekdays. Already ride like members.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2011680"/>
            <a:ext cx="3611880" cy="393192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2011680"/>
            <a:ext cx="3611880" cy="9144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5" y="22860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C1C"/>
                </a:solidFill>
                <a:latin typeface="Trebuchet MS"/>
              </a:rPr>
              <a:t>Commute E-Bike Riders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2855" y="301752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5" y="3017520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FFFFFF"/>
                </a:solidFill>
                <a:latin typeface="Trebuchet MS"/>
              </a:rPr>
              <a:t>MEDIUM 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5" y="3657600"/>
            <a:ext cx="1554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C06A2C"/>
                </a:solidFill>
                <a:latin typeface="Trebuchet MS"/>
              </a:rPr>
              <a:t>17.2%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7382"/>
                </a:solidFill>
                <a:latin typeface="Arial"/>
              </a:rPr>
              <a:t>of casual rides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3657600"/>
            <a:ext cx="1463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962A6"/>
                </a:solidFill>
                <a:latin typeface="Trebuchet MS"/>
              </a:rPr>
              <a:t>0.49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7382"/>
                </a:solidFill>
                <a:latin typeface="Arial"/>
              </a:rPr>
              <a:t>similarity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5" y="466344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100% rush-hour rides; ~1 in 4 ends outside a dock.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2011680"/>
            <a:ext cx="3611880" cy="393192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8431" y="2011680"/>
            <a:ext cx="3611880" cy="9144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2860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C1C"/>
                </a:solidFill>
                <a:latin typeface="Trebuchet MS"/>
              </a:rPr>
              <a:t>Classic Leisure Riders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2752" y="301752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017520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FFFFFF"/>
                </a:solidFill>
                <a:latin typeface="Trebuchet MS"/>
              </a:rPr>
              <a:t>LOW 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657600"/>
            <a:ext cx="1554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C06A2C"/>
                </a:solidFill>
                <a:latin typeface="Trebuchet MS"/>
              </a:rPr>
              <a:t>30.8%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7382"/>
                </a:solidFill>
                <a:latin typeface="Arial"/>
              </a:rPr>
              <a:t>of casual rides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3657600"/>
            <a:ext cx="1463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962A6"/>
                </a:solidFill>
                <a:latin typeface="Trebuchet MS"/>
              </a:rPr>
              <a:t>0.00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77382"/>
                </a:solidFill>
                <a:latin typeface="Arial"/>
              </a:rPr>
              <a:t>similarity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66344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Longer recreational rides, weekend-skewed.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04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SEGMENT ·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E-Bike Riders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383280" cy="393192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383280" cy="9144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FFFFFF"/>
                </a:solidFill>
                <a:latin typeface="Trebuchet MS"/>
              </a:rPr>
              <a:t>HIGH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C06A2C"/>
                </a:solidFill>
                <a:latin typeface="Trebuchet MS"/>
              </a:rPr>
              <a:t>52.1%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of all casual rides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962A6"/>
                </a:solidFill>
                <a:latin typeface="Trebuchet MS"/>
              </a:rPr>
              <a:t>0.65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member similarity (0–1)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011680"/>
            <a:ext cx="7406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C1C1C"/>
                </a:solidFill>
                <a:latin typeface="Arial"/>
              </a:rPr>
              <a:t>The largest casual segment — and the one that already rides like a member.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099816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306324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C1C1C"/>
                </a:solidFill>
                <a:latin typeface="Arial"/>
              </a:rPr>
              <a:t>Short, purposeful trips concentrated on weekdays.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575304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3538728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C1C1C"/>
                </a:solidFill>
                <a:latin typeface="Arial"/>
              </a:rPr>
              <a:t>Predominantly electric bikes, used for getting somewhere — not sightseeing.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050792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4014216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C1C1C"/>
                </a:solidFill>
                <a:latin typeface="Arial"/>
              </a:rPr>
              <a:t>Closest of all casual segments to the member behavioural profile.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4526280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4489704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C1C1C"/>
                </a:solidFill>
                <a:latin typeface="Arial"/>
              </a:rPr>
              <a:t>Size and fit align: the obvious lead target.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5074920"/>
            <a:ext cx="73152" cy="86868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51389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C06A2C"/>
                </a:solidFill>
                <a:latin typeface="Trebuchet MS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5458968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Arial"/>
              </a:rPr>
              <a:t>Lead the annual-membership campaign here. Trigger on short weekday e-bike rides.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04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SEGMENT · MEDIUM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Commute E-Bike Riders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383280" cy="393192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383280" cy="9144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FFFFFF"/>
                </a:solidFill>
                <a:latin typeface="Trebuchet MS"/>
              </a:rPr>
              <a:t>MEDIUM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C06A2C"/>
                </a:solidFill>
                <a:latin typeface="Trebuchet MS"/>
              </a:rPr>
              <a:t>17.2%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of all casual rides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962A6"/>
                </a:solidFill>
                <a:latin typeface="Trebuchet MS"/>
              </a:rPr>
              <a:t>0.49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member similarity (0–1)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011680"/>
            <a:ext cx="7406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C1C1C"/>
                </a:solidFill>
                <a:latin typeface="Arial"/>
              </a:rPr>
              <a:t>A rush-hour segment with a physical-infrastructure story attached.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099816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306324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C1C1C"/>
                </a:solidFill>
                <a:latin typeface="Arial"/>
              </a:rPr>
              <a:t>100% of rides fall in commute windows; ~70% are on e-bikes.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575304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3538728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C1C1C"/>
                </a:solidFill>
                <a:latin typeface="Arial"/>
              </a:rPr>
              <a:t>About 1 in 4 rides ends outside a docking station (free-floating).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050792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4014216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C1C1C"/>
                </a:solidFill>
                <a:latin typeface="Arial"/>
              </a:rPr>
              <a:t>A free-floating park-up means no guaranteed bike near home next morning.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4526280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4489704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C1C1C"/>
                </a:solidFill>
                <a:latin typeface="Arial"/>
              </a:rPr>
              <a:t>Smaller and a step further from members than E-Bike Riders.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5074920"/>
            <a:ext cx="73152" cy="86868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51389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C06A2C"/>
                </a:solidFill>
                <a:latin typeface="Trebuchet MS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5458968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Arial"/>
              </a:rPr>
              <a:t>Pair a membership offer with a docking pilot in residential areas where rides end.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04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SEGMENT · 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Classic Leisure Riders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383280" cy="393192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383280" cy="9144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FFFFFF"/>
                </a:solidFill>
                <a:latin typeface="Trebuchet MS"/>
              </a:rPr>
              <a:t>LOW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C06A2C"/>
                </a:solidFill>
                <a:latin typeface="Trebuchet MS"/>
              </a:rPr>
              <a:t>30.8%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of all casual rides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962A6"/>
                </a:solidFill>
                <a:latin typeface="Trebuchet MS"/>
              </a:rPr>
              <a:t>0.00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77382"/>
                </a:solidFill>
                <a:latin typeface="Arial"/>
              </a:rPr>
              <a:t>member similarity (0–1)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011680"/>
            <a:ext cx="7406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C1C1C"/>
                </a:solidFill>
                <a:latin typeface="Arial"/>
              </a:rPr>
              <a:t>Recreational riders whose behaviour is furthest from membership.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099816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306324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C1C1C"/>
                </a:solidFill>
                <a:latin typeface="Arial"/>
              </a:rPr>
              <a:t>Longer rides, classic bikes, concentrated on weekends.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575304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3538728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C1C1C"/>
                </a:solidFill>
                <a:latin typeface="Arial"/>
              </a:rPr>
              <a:t>Use the service for leisure, not routine transport.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050792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4014216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C1C1C"/>
                </a:solidFill>
                <a:latin typeface="Arial"/>
              </a:rPr>
              <a:t>Most distant from the member profile in this dataset (similarity 0.00).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4526280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4489704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C1C1C"/>
                </a:solidFill>
                <a:latin typeface="Arial"/>
              </a:rPr>
              <a:t>A sizeable group — but a poor fit for an annual-membership pitch.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5074920"/>
            <a:ext cx="73152" cy="86868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51389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C06A2C"/>
                </a:solidFill>
                <a:latin typeface="Trebuchet MS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5458968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1C1C"/>
                </a:solidFill>
                <a:latin typeface="Arial"/>
              </a:rPr>
              <a:t>Do not push annual membership. Offer a weekend or seasonal pass instead.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05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PRIORITISATION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Balancing fit against audience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1C1C"/>
                </a:solidFill>
                <a:latin typeface="Arial"/>
              </a:rPr>
              <a:t>Priority = member similarity × share of casual rides. Both dimensions point at the same segment.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486400"/>
            <a:ext cx="6583680" cy="190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2611" y="3122791"/>
            <a:ext cx="1009497" cy="2363609"/>
          </a:xfrm>
          <a:prstGeom prst="roundRect">
            <a:avLst>
              <a:gd name="adj" fmla="val 4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02167"/>
            <a:ext cx="219456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Trebuchet MS"/>
              </a:rPr>
              <a:t>0.34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9612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E-Bike
Riders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7171" y="4900727"/>
            <a:ext cx="1009497" cy="585673"/>
          </a:xfrm>
          <a:prstGeom prst="roundRect">
            <a:avLst>
              <a:gd name="adj" fmla="val 4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4480103"/>
            <a:ext cx="219456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Trebuchet MS"/>
              </a:rPr>
              <a:t>0.08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559612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Commute
E-Bike Riders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065776"/>
            <a:ext cx="2194560" cy="3657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Trebuchet MS"/>
              </a:rPr>
              <a:t>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596128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C1C1C"/>
                </a:solidFill>
                <a:latin typeface="Arial"/>
              </a:rPr>
              <a:t>Classic
Leisure Riders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2423160"/>
            <a:ext cx="73152" cy="3520440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606040"/>
            <a:ext cx="4114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C06A2C"/>
                </a:solidFill>
                <a:latin typeface="Trebuchet MS"/>
              </a:rPr>
              <a:t>THE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3017520"/>
            <a:ext cx="41148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500" b="1" i="0">
                <a:solidFill>
                  <a:srgbClr val="1C1C1C"/>
                </a:solidFill>
                <a:latin typeface="Arial"/>
              </a:rPr>
              <a:t>E-Bike Riders score ~4× the next segment.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350" b="0" i="0">
                <a:solidFill>
                  <a:srgbClr val="677382"/>
                </a:solidFill>
                <a:latin typeface="Arial"/>
              </a:rPr>
              <a:t>They are both the largest casual segment and the most member-like — so volume and fit reinforce each other rather than trade off.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350" b="0" i="0">
                <a:solidFill>
                  <a:srgbClr val="677382"/>
                </a:solidFill>
                <a:latin typeface="Arial"/>
              </a:rPr>
              <a:t>Classic Leisure Riders score ~0: large, but behaviourally too far for membership.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05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Four moves, matched to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73152" cy="896112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8686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06A2C"/>
                </a:solidFill>
                <a:latin typeface="Trebuchet M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75688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Arial"/>
              </a:rPr>
              <a:t>Lead with E-Bike Riders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423160"/>
            <a:ext cx="9784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Push annual membership to this segment first; message commute-cost savings vs. pay-per-ride.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880360"/>
            <a:ext cx="9784080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90088"/>
            <a:ext cx="73152" cy="896112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99816"/>
            <a:ext cx="8686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06A2C"/>
                </a:solidFill>
                <a:latin typeface="Trebuchet M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099816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Arial"/>
              </a:rPr>
              <a:t>Sell leisure riders a different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447288"/>
            <a:ext cx="9784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Offer Classic Leisure Riders a weekend or seasonal pass — not annual membership.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904487"/>
            <a:ext cx="9784080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14216"/>
            <a:ext cx="73152" cy="896112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23944"/>
            <a:ext cx="8686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06A2C"/>
                </a:solidFill>
                <a:latin typeface="Trebuchet M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123944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Arial"/>
              </a:rPr>
              <a:t>Test the infrastructure lever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471416"/>
            <a:ext cx="9784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Pilot added docking where PM commute e-bike rides end; it may remove a real conversion barrier.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928616"/>
            <a:ext cx="9784080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038344"/>
            <a:ext cx="73152" cy="896112"/>
          </a:xfrm>
          <a:prstGeom prst="rect">
            <a:avLst/>
          </a:prstGeom>
          <a:solidFill>
            <a:srgbClr val="677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48072"/>
            <a:ext cx="8686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677382"/>
                </a:solidFill>
                <a:latin typeface="Trebuchet M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148072"/>
            <a:ext cx="9784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1C1C"/>
                </a:solidFill>
                <a:latin typeface="Arial"/>
              </a:rPr>
              <a:t>Prove it before scaling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495544"/>
            <a:ext cx="9784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Run a controlled A/B campaign and measure real conversion before committing budget.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5952744"/>
            <a:ext cx="9784080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05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ACTION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The right offer for each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677382"/>
                </a:solidFill>
                <a:latin typeface="Trebuchet MS"/>
              </a:rPr>
              <a:t>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10312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677382"/>
                </a:solidFill>
                <a:latin typeface="Trebuchet MS"/>
              </a:rPr>
              <a:t>OFFER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1031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677382"/>
                </a:solidFill>
                <a:latin typeface="Trebuchet MS"/>
              </a:rPr>
              <a:t>CHANNEL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2103120"/>
            <a:ext cx="2542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00">
                <a:solidFill>
                  <a:srgbClr val="677382"/>
                </a:solidFill>
                <a:latin typeface="Trebuchet MS"/>
              </a:rPr>
              <a:t>EXPECTATION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87168"/>
            <a:ext cx="11091672" cy="1524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3099815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70048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1C1C"/>
                </a:solidFill>
                <a:latin typeface="Arial"/>
              </a:rPr>
              <a:t>E-Bike Riders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70048"/>
            <a:ext cx="23774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C1C1C"/>
                </a:solidFill>
                <a:latin typeface="Arial"/>
              </a:rPr>
              <a:t>Annual membership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670048"/>
            <a:ext cx="288036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Short weekday e-bike trips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670048"/>
            <a:ext cx="2404872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Lead target — scale after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12463"/>
            <a:ext cx="11091672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4270248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40480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1C1C"/>
                </a:solidFill>
                <a:latin typeface="Arial"/>
              </a:rPr>
              <a:t>Commute E-Bike Riders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840480"/>
            <a:ext cx="23774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C1C1C"/>
                </a:solidFill>
                <a:latin typeface="Arial"/>
              </a:rPr>
              <a:t>Membership + docking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840480"/>
            <a:ext cx="288036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Rush-hour, free-floating 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840480"/>
            <a:ext cx="2404872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Watch — infra may unlock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82896"/>
            <a:ext cx="11091672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5440680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10912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1C1C"/>
                </a:solidFill>
                <a:latin typeface="Arial"/>
              </a:rPr>
              <a:t>Classic Leisure Riders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010912"/>
            <a:ext cx="237744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C1C1C"/>
                </a:solidFill>
                <a:latin typeface="Arial"/>
              </a:rPr>
              <a:t>Weekend / seasonal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010912"/>
            <a:ext cx="288036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Long weekend rides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5010912"/>
            <a:ext cx="2404872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Don't push annual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053328"/>
            <a:ext cx="11091672" cy="6350"/>
          </a:xfrm>
          <a:prstGeom prst="rect">
            <a:avLst/>
          </a:prstGeom>
          <a:solidFill>
            <a:srgbClr val="D9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05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Test before you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3611880" cy="329184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423160"/>
            <a:ext cx="3063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C06A2C"/>
                </a:solidFill>
                <a:latin typeface="Trebuchet MS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889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1C1C"/>
                </a:solidFill>
                <a:latin typeface="Trebuchet MS"/>
              </a:rP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47472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77382"/>
                </a:solidFill>
                <a:latin typeface="Arial"/>
              </a:rPr>
              <a:t>Controlled A/B membership offer to E-Bike Riders. Hold-out group; measure real conversion, not similarity.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2232" y="35661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9DFE6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194560"/>
            <a:ext cx="3611880" cy="329184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2423160"/>
            <a:ext cx="3063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2962A6"/>
                </a:solidFill>
                <a:latin typeface="Trebuchet MS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27889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1C1C"/>
                </a:solidFill>
                <a:latin typeface="Trebuchet MS"/>
              </a:rPr>
              <a:t>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347472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77382"/>
                </a:solidFill>
                <a:latin typeface="Arial"/>
              </a:rPr>
              <a:t>Validate the infrastructure signal — map free-floating endpoints; pilot docking in dock-sparse residential areas.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35661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9DFE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194560"/>
            <a:ext cx="3611880" cy="3291840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423160"/>
            <a:ext cx="3063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C06A2C"/>
                </a:solidFill>
                <a:latin typeface="Trebuchet MS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889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1C1C"/>
                </a:solidFill>
                <a:latin typeface="Trebuchet MS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47472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77382"/>
                </a:solidFill>
                <a:latin typeface="Arial"/>
              </a:rPr>
              <a:t>Roll out what converts. Launch a separate weekend/seasonal product for Classic Leisure Riders.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2120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0292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C06A2C"/>
                </a:solidFill>
                <a:latin typeface="Trebuchet MS"/>
              </a:rPr>
              <a:t>06   </a:t>
            </a:r>
            <a:r>
              <a:rPr sz="1200" b="1" i="0" spc="200">
                <a:solidFill>
                  <a:srgbClr val="677382"/>
                </a:solidFill>
                <a:latin typeface="Trebuchet MS"/>
              </a:rPr>
              <a:t>READ WITH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16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C1C"/>
                </a:solidFill>
                <a:latin typeface="Trebuchet MS"/>
              </a:rPr>
              <a:t>Limitations of the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20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3852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1C1C"/>
                </a:solidFill>
                <a:latin typeface="Arial"/>
              </a:rPr>
              <a:t>No user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76856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Segmentation is ride-level; one person can appear in several segments. Sizes count rides, not people.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20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193852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1C1C"/>
                </a:solidFill>
                <a:latin typeface="Arial"/>
              </a:rPr>
              <a:t>Similarity ≠ 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276856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It is a structural indicator. Price, alternatives and habit — not in this data — drive real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924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31012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1C1C"/>
                </a:solidFill>
                <a:latin typeface="Arial"/>
              </a:rPr>
              <a:t>Soft clusters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648456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Modest silhouette scores: segments are behavioural regions, not sharply separated groups.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3924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331012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1C1C"/>
                </a:solidFill>
                <a:latin typeface="Arial"/>
              </a:rPr>
              <a:t>Commute is a 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648456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Departure time approximates intent; commute windows also carry a high mechanical base rate (~28%).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640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68172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1C1C"/>
                </a:solidFill>
                <a:latin typeface="Arial"/>
              </a:rPr>
              <a:t>~33% missing station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5020056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GPS used instead; some station-based extensions aren't available.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7640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468172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C1C1C"/>
                </a:solidFill>
                <a:latin typeface="Arial"/>
              </a:rPr>
              <a:t>Straight-line distance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5020056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77382"/>
                </a:solidFill>
                <a:latin typeface="Arial"/>
              </a:rPr>
              <a:t>Haversine underestimates true cycling distance, so speed is approximate.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Arial"/>
              </a:rPr>
              <a:t>Cyclistic  ·  Casual-to-Member Conversion  ·  Jun 2025 – May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37376"/>
            <a:ext cx="11247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77382"/>
                </a:solidFill>
                <a:latin typeface="Trebuchet MS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48640"/>
            <a:ext cx="9144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677382"/>
                </a:solidFill>
                <a:latin typeface="Trebuchet MS"/>
              </a:rPr>
              <a:t>TO SHARPEN THE NEXT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1C1C"/>
                </a:solidFill>
                <a:latin typeface="Trebuchet MS"/>
              </a:rPr>
              <a:t>What would make this sharper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611880" cy="155448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2240280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146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C1C1C"/>
                </a:solidFill>
                <a:latin typeface="Trebuchet MS"/>
              </a:rPr>
              <a:t>User 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71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77382"/>
                </a:solidFill>
                <a:latin typeface="Arial"/>
              </a:rPr>
              <a:t>Segment by person, not by ride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920240"/>
            <a:ext cx="3611880" cy="155448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62855" y="2240280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25146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C1C1C"/>
                </a:solidFill>
                <a:latin typeface="Trebuchet MS"/>
              </a:rPr>
              <a:t>Survey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2971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77382"/>
                </a:solidFill>
                <a:latin typeface="Arial"/>
              </a:rPr>
              <a:t>Validate intent behind the behaviour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920240"/>
            <a:ext cx="3611880" cy="155448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02752" y="2240280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296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5146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C1C1C"/>
                </a:solidFill>
                <a:latin typeface="Trebuchet MS"/>
              </a:rPr>
              <a:t>Conversion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971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77382"/>
                </a:solidFill>
                <a:latin typeface="Arial"/>
              </a:rPr>
              <a:t>Calibrate similarity against real outcomes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77639"/>
            <a:ext cx="502920" cy="64008"/>
          </a:xfrm>
          <a:prstGeom prst="rect">
            <a:avLst/>
          </a:prstGeom>
          <a:solidFill>
            <a:srgbClr val="C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00">
                <a:solidFill>
                  <a:srgbClr val="C06A2C"/>
                </a:solidFill>
                <a:latin typeface="Trebuchet MS"/>
              </a:rPr>
              <a:t>THE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09728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C1C1C"/>
                </a:solidFill>
                <a:latin typeface="Trebuchet MS"/>
              </a:rPr>
              <a:t>Run a controlled membership campaign on </a:t>
            </a:r>
            <a:r>
              <a:rPr sz="2600" b="1" i="0">
                <a:solidFill>
                  <a:srgbClr val="C06A2C"/>
                </a:solidFill>
                <a:latin typeface="Trebuchet MS"/>
              </a:rPr>
              <a:t>E-Bike Riders</a:t>
            </a:r>
          </a:p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C1C1C"/>
                </a:solidFill>
                <a:latin typeface="Trebuchet MS"/>
              </a:rPr>
              <a:t>— then scale on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6236208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 spc="100">
                <a:solidFill>
                  <a:srgbClr val="677382"/>
                </a:solidFill>
                <a:latin typeface="Trebuchet MS"/>
              </a:rPr>
              <a:t>Cyclistic Analytics  ·  Divvy public data  ·  Jun 2025 –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— Casual-to-Member Conversion (Full Analysis)</dc:title>
  <dc:subject/>
  <dc:creator>Cyclistic Analytics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