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148840"/>
            <a:ext cx="502920" cy="64008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114300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1C1C1C"/>
                </a:solidFill>
                <a:latin typeface="Trebuchet MS"/>
              </a:rPr>
              <a:t>Turning </a:t>
            </a:r>
            <a:r>
              <a:rPr sz="4400" b="1" i="0">
                <a:solidFill>
                  <a:srgbClr val="C06A2C"/>
                </a:solidFill>
                <a:latin typeface="Trebuchet MS"/>
              </a:rPr>
              <a:t>casual riders</a:t>
            </a:r>
          </a:p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1C1C1C"/>
                </a:solidFill>
                <a:latin typeface="Trebuchet MS"/>
              </a:rPr>
              <a:t>into </a:t>
            </a:r>
            <a:r>
              <a:rPr sz="4400" b="1" i="0">
                <a:solidFill>
                  <a:srgbClr val="2962A6"/>
                </a:solidFill>
                <a:latin typeface="Trebuchet MS"/>
              </a:rPr>
              <a:t>annual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43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77382"/>
                </a:solidFill>
                <a:latin typeface="Arial"/>
              </a:rPr>
              <a:t>A behavioural segmentation · who to convert, and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00">
                <a:solidFill>
                  <a:srgbClr val="677382"/>
                </a:solidFill>
                <a:latin typeface="Trebuchet MS"/>
              </a:rPr>
              <a:t>Chicago bike-share  ·  5.84 M rides  ·  Jun 2025 – May 2026  ·  Executive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83387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769864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06A2C"/>
                </a:solidFill>
                <a:latin typeface="Arial"/>
              </a:rPr>
              <a:t>Casual riders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583387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5769864"/>
            <a:ext cx="2560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962A6"/>
                </a:solidFill>
                <a:latin typeface="Arial"/>
              </a:rPr>
              <a:t>Annual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01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1C1C"/>
                </a:solidFill>
                <a:latin typeface="Trebuchet MS"/>
              </a:rPr>
              <a:t>Which casual riders are worth converting?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1C1C"/>
                </a:solidFill>
                <a:latin typeface="Arial"/>
              </a:rPr>
              <a:t>Cyclistic has two user types — </a:t>
            </a:r>
            <a:r>
              <a:rPr sz="1550" b="1" i="0">
                <a:solidFill>
                  <a:srgbClr val="C06A2C"/>
                </a:solidFill>
                <a:latin typeface="Arial"/>
              </a:rPr>
              <a:t>casual riders</a:t>
            </a:r>
            <a:r>
              <a:rPr sz="1550" b="0" i="0">
                <a:solidFill>
                  <a:srgbClr val="1C1C1C"/>
                </a:solidFill>
                <a:latin typeface="Arial"/>
              </a:rPr>
              <a:t> (single / day pass) and </a:t>
            </a:r>
            <a:r>
              <a:rPr sz="1550" b="1" i="0">
                <a:solidFill>
                  <a:srgbClr val="2962A6"/>
                </a:solidFill>
                <a:latin typeface="Arial"/>
              </a:rPr>
              <a:t>annual members</a:t>
            </a:r>
            <a:r>
              <a:rPr sz="1550" b="0" i="0">
                <a:solidFill>
                  <a:srgbClr val="1C1C1C"/>
                </a:solidFill>
                <a:latin typeface="Arial"/>
              </a:rPr>
              <a:t>. Converting the right casual riders is the cheapest growth lever.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34640"/>
            <a:ext cx="64008" cy="713232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05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6A2C"/>
                </a:solidFill>
                <a:latin typeface="Trebuchet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834640"/>
            <a:ext cx="9418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C1C1C"/>
                </a:solidFill>
                <a:latin typeface="Arial"/>
              </a:rPr>
              <a:t>Do casual riders behave differently from members?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3584448"/>
            <a:ext cx="9418320" cy="9525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64008" cy="713232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1005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6A2C"/>
                </a:solidFill>
                <a:latin typeface="Trebuchet M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749039"/>
            <a:ext cx="9418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C1C1C"/>
                </a:solidFill>
                <a:latin typeface="Arial"/>
              </a:rPr>
              <a:t>Are casual riders one group — or several distinct profiles?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4498848"/>
            <a:ext cx="9418320" cy="9525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663440"/>
            <a:ext cx="64008" cy="713232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1005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6A2C"/>
                </a:solidFill>
                <a:latin typeface="Trebuchet M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663440"/>
            <a:ext cx="9418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C1C1C"/>
                </a:solidFill>
                <a:latin typeface="Arial"/>
              </a:rPr>
              <a:t>Which profiles look most like members, and are big enough to target?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83080" y="5413248"/>
            <a:ext cx="9418320" cy="9525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02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THE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1C1C"/>
                </a:solidFill>
                <a:latin typeface="Trebuchet MS"/>
              </a:rPr>
              <a:t>Casual riders are not one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1C1C1C"/>
                </a:solidFill>
                <a:latin typeface="Arial"/>
              </a:rPr>
              <a:t>Of every ride taken, </a:t>
            </a:r>
            <a:r>
              <a:rPr sz="1550" b="1" i="0">
                <a:solidFill>
                  <a:srgbClr val="C06A2C"/>
                </a:solidFill>
                <a:latin typeface="Arial"/>
              </a:rPr>
              <a:t>36% are casual</a:t>
            </a:r>
            <a:r>
              <a:rPr sz="1550" b="0" i="0">
                <a:solidFill>
                  <a:srgbClr val="1C1C1C"/>
                </a:solidFill>
                <a:latin typeface="Arial"/>
              </a:rPr>
              <a:t> — 2.09 M rides in play for conversion.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3160"/>
            <a:ext cx="7109761" cy="713232"/>
          </a:xfrm>
          <a:prstGeom prst="roundRect">
            <a:avLst>
              <a:gd name="adj" fmla="val 12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710976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Members  64.1%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58401" y="2423160"/>
            <a:ext cx="3981910" cy="713232"/>
          </a:xfrm>
          <a:prstGeom prst="roundRect">
            <a:avLst>
              <a:gd name="adj" fmla="val 12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8401" y="2423160"/>
            <a:ext cx="398191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Casual  35.9%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1C1C1C"/>
                </a:solidFill>
                <a:latin typeface="Arial"/>
              </a:rPr>
              <a:t>Inside that casual third sit </a:t>
            </a:r>
            <a:r>
              <a:rPr sz="1550" b="1" i="0">
                <a:solidFill>
                  <a:srgbClr val="1C1C1C"/>
                </a:solidFill>
                <a:latin typeface="Arial"/>
              </a:rPr>
              <a:t>three behavioural profiles</a:t>
            </a:r>
            <a:r>
              <a:rPr sz="1550" b="0" i="0">
                <a:solidFill>
                  <a:srgbClr val="1C1C1C"/>
                </a:solidFill>
                <a:latin typeface="Arial"/>
              </a:rPr>
              <a:t> — differing in ride length, timing, and how closely they resemble members: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15968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C06A2C"/>
                </a:solidFill>
                <a:latin typeface="Arial"/>
              </a:rPr>
              <a:t>E-Bike Riders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251960"/>
            <a:ext cx="6492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77382"/>
                </a:solidFill>
                <a:latin typeface="Arial"/>
              </a:rPr>
              <a:t>Short, purposeful, weekday-concentrated — most member-like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C06A2C"/>
                </a:solidFill>
                <a:latin typeface="Arial"/>
              </a:rPr>
              <a:t>Commute E-Bike Riders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846320"/>
            <a:ext cx="6492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77382"/>
                </a:solidFill>
                <a:latin typeface="Arial"/>
              </a:rPr>
              <a:t>Rush-hour trips, often ending outside a dock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04688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C06A2C"/>
                </a:solidFill>
                <a:latin typeface="Arial"/>
              </a:rPr>
              <a:t>Classic Leisure Riders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440680"/>
            <a:ext cx="6492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77382"/>
                </a:solidFill>
                <a:latin typeface="Arial"/>
              </a:rPr>
              <a:t>Long weekend rides — furthest from member 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03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THE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1C1C"/>
                </a:solidFill>
                <a:latin typeface="Trebuchet MS"/>
              </a:rPr>
              <a:t>Three profiles, ranked by member similarity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611880" cy="397763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611880" cy="9144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C1C"/>
                </a:solidFill>
                <a:latin typeface="Trebuchet MS"/>
              </a:rPr>
              <a:t>E-Bike Riders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301752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FFFFFF"/>
                </a:solidFill>
                <a:latin typeface="Trebuchet MS"/>
              </a:rPr>
              <a:t>HIGH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11880"/>
            <a:ext cx="1554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06A2C"/>
                </a:solidFill>
                <a:latin typeface="Trebuchet MS"/>
              </a:rPr>
              <a:t>52.1%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7382"/>
                </a:solidFill>
                <a:latin typeface="Arial"/>
              </a:rPr>
              <a:t>of casual rides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611880"/>
            <a:ext cx="1463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962A6"/>
                </a:solidFill>
                <a:latin typeface="Trebuchet MS"/>
              </a:rPr>
              <a:t>0.65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7382"/>
                </a:solidFill>
                <a:latin typeface="Arial"/>
              </a:rPr>
              <a:t>member similarity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617720"/>
            <a:ext cx="3108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Short, purposeful trips on weekdays. Already ride like members.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2011680"/>
            <a:ext cx="3611880" cy="397763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2011680"/>
            <a:ext cx="3611880" cy="9144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22860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C1C"/>
                </a:solidFill>
                <a:latin typeface="Trebuchet MS"/>
              </a:rPr>
              <a:t>Commute E-Bike Riders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5" y="301752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5" y="3017520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FFFFFF"/>
                </a:solidFill>
                <a:latin typeface="Trebuchet MS"/>
              </a:rPr>
              <a:t>MEDIUM 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3611880"/>
            <a:ext cx="1554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06A2C"/>
                </a:solidFill>
                <a:latin typeface="Trebuchet MS"/>
              </a:rPr>
              <a:t>17.2%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7382"/>
                </a:solidFill>
                <a:latin typeface="Arial"/>
              </a:rPr>
              <a:t>of casual rides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3611880"/>
            <a:ext cx="1463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962A6"/>
                </a:solidFill>
                <a:latin typeface="Trebuchet MS"/>
              </a:rPr>
              <a:t>0.49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7382"/>
                </a:solidFill>
                <a:latin typeface="Arial"/>
              </a:rPr>
              <a:t>member 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5" y="4617720"/>
            <a:ext cx="3108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100% rush-hour rides; ~1 in 4 ends outside a dock. Infrastructure angle.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2011680"/>
            <a:ext cx="3611880" cy="397763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8431" y="2011680"/>
            <a:ext cx="3611880" cy="9144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2860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C1C"/>
                </a:solidFill>
                <a:latin typeface="Trebuchet MS"/>
              </a:rPr>
              <a:t>Classic Leisure Riders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2752" y="301752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017520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FFFFFF"/>
                </a:solidFill>
                <a:latin typeface="Trebuchet MS"/>
              </a:rPr>
              <a:t>LOW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611880"/>
            <a:ext cx="1554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06A2C"/>
                </a:solidFill>
                <a:latin typeface="Trebuchet MS"/>
              </a:rPr>
              <a:t>30.8%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7382"/>
                </a:solidFill>
                <a:latin typeface="Arial"/>
              </a:rPr>
              <a:t>of casual rides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3611880"/>
            <a:ext cx="1463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962A6"/>
                </a:solidFill>
                <a:latin typeface="Trebuchet MS"/>
              </a:rPr>
              <a:t>0.00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7382"/>
                </a:solidFill>
                <a:latin typeface="Arial"/>
              </a:rPr>
              <a:t>member similarity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617720"/>
            <a:ext cx="3108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Longer recreational rides, weekend-skewed. A different product fits better.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77382"/>
                </a:solidFill>
                <a:latin typeface="Arial"/>
              </a:rPr>
              <a:t>Member similarity: 1.00 = most member-like. Shown in blue because it measures distance to the member profile.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04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WHERE TO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1C1C"/>
                </a:solidFill>
                <a:latin typeface="Trebuchet MS"/>
              </a:rPr>
              <a:t>One segment leads on both size and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1C1C"/>
                </a:solidFill>
                <a:latin typeface="Arial"/>
              </a:rPr>
              <a:t>Priority = member similarity × share of casual rides. </a:t>
            </a:r>
            <a:r>
              <a:rPr sz="1500" b="1" i="0">
                <a:solidFill>
                  <a:srgbClr val="1C1C1C"/>
                </a:solidFill>
                <a:latin typeface="Arial"/>
              </a:rPr>
              <a:t>E-Bike Riders win on both dimensions.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440680"/>
            <a:ext cx="6583680" cy="190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2611" y="3154566"/>
            <a:ext cx="1009497" cy="2286114"/>
          </a:xfrm>
          <a:prstGeom prst="roundRect">
            <a:avLst>
              <a:gd name="adj" fmla="val 4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33942"/>
            <a:ext cx="219456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Trebuchet MS"/>
              </a:rPr>
              <a:t>0.34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5040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E-Bike
Riders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7171" y="4874210"/>
            <a:ext cx="1009497" cy="566470"/>
          </a:xfrm>
          <a:prstGeom prst="roundRect">
            <a:avLst>
              <a:gd name="adj" fmla="val 4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4453586"/>
            <a:ext cx="219456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Trebuchet MS"/>
              </a:rPr>
              <a:t>0.08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555040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Commute
E-Bike Riders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020056"/>
            <a:ext cx="219456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Trebuchet MS"/>
              </a:rPr>
              <a:t>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5040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Classic
Leisure Riders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2606040"/>
            <a:ext cx="73152" cy="324612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697480"/>
            <a:ext cx="4114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C06A2C"/>
                </a:solidFill>
                <a:latin typeface="Trebuchet MS"/>
              </a:rPr>
              <a:t>THE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090672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1C1C"/>
                </a:solidFill>
                <a:latin typeface="Trebuchet MS"/>
              </a:rPr>
              <a:t>E-Bike Riders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840480"/>
            <a:ext cx="4069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Largest casual segment </a:t>
            </a:r>
            <a:r>
              <a:rPr sz="1400" b="1" i="0">
                <a:solidFill>
                  <a:srgbClr val="C06A2C"/>
                </a:solidFill>
                <a:latin typeface="Arial"/>
              </a:rPr>
              <a:t>(52%)</a:t>
            </a:r>
            <a:r>
              <a:rPr sz="1400" b="0" i="0">
                <a:solidFill>
                  <a:srgbClr val="1C1C1C"/>
                </a:solidFill>
                <a:latin typeface="Arial"/>
              </a:rPr>
              <a:t> and closest to member behaviour </a:t>
            </a:r>
            <a:r>
              <a:rPr sz="1400" b="1" i="0">
                <a:solidFill>
                  <a:srgbClr val="2962A6"/>
                </a:solidFill>
                <a:latin typeface="Arial"/>
              </a:rPr>
              <a:t>(0.65 similarity)</a:t>
            </a:r>
            <a:r>
              <a:rPr sz="1400" b="0" i="0">
                <a:solidFill>
                  <a:srgbClr val="1C1C1C"/>
                </a:solidFill>
                <a:latin typeface="Arial"/>
              </a:rPr>
              <a:t>. Size and fit point the same way — a rare, clean targeting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77382"/>
                </a:solidFill>
                <a:latin typeface="Arial"/>
              </a:rPr>
              <a:t>Priority score = member similarity × share of casual rides.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05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1C1C"/>
                </a:solidFill>
                <a:latin typeface="Trebuchet MS"/>
              </a:rPr>
              <a:t>Four moves, matched to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73152" cy="91440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868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6A2C"/>
                </a:solidFill>
                <a:latin typeface="Trebuchet M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2996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Arial"/>
              </a:rPr>
              <a:t>Lead with E-Bike Riders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3774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Push the annual membership to this segment first. Message the commute-cost saving vs. pay-per-ride on short weekday e-bike trips.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852928"/>
            <a:ext cx="9784080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73152" cy="91440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72384"/>
            <a:ext cx="868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6A2C"/>
                </a:solidFill>
                <a:latin typeface="Trebuchet M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07238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Arial"/>
              </a:rPr>
              <a:t>Sell leisure riders a different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19856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Don't pitch annual membership to Classic Leisure Riders. Offer a weekend or seasonal pass — it matches their long, recreational weekend rides.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895344"/>
            <a:ext cx="9784080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05072"/>
            <a:ext cx="73152" cy="91440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868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6A2C"/>
                </a:solidFill>
                <a:latin typeface="Trebuchet M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114800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Arial"/>
              </a:rPr>
              <a:t>Test the infrastructure lever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462272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~25% of PM commute e-bike rides end outside docks. Pilot added docking in the residential areas where they end — it may remove a real conversion barrier.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937760"/>
            <a:ext cx="9784080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047488"/>
            <a:ext cx="73152" cy="914400"/>
          </a:xfrm>
          <a:prstGeom prst="rect">
            <a:avLst/>
          </a:prstGeom>
          <a:solidFill>
            <a:srgbClr val="677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57216"/>
            <a:ext cx="868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77382"/>
                </a:solidFill>
                <a:latin typeface="Trebuchet M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15721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Arial"/>
              </a:rPr>
              <a:t>Prove it before scaling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504688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Similarity is a structural signal, not a guarantee. Run a controlled A/B campaign on E-Bike Riders and measure real conversion before committing full budget.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5980175"/>
            <a:ext cx="9784080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06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ACTION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1C1C"/>
                </a:solidFill>
                <a:latin typeface="Trebuchet MS"/>
              </a:rPr>
              <a:t>The right offer for each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77382"/>
                </a:solidFill>
                <a:latin typeface="Trebuchet MS"/>
              </a:rPr>
              <a:t>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10312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77382"/>
                </a:solidFill>
                <a:latin typeface="Trebuchet MS"/>
              </a:rPr>
              <a:t>OFFER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1031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77382"/>
                </a:solidFill>
                <a:latin typeface="Trebuchet MS"/>
              </a:rPr>
              <a:t>CHANNEL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2103120"/>
            <a:ext cx="2542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77382"/>
                </a:solidFill>
                <a:latin typeface="Trebuchet MS"/>
              </a:rPr>
              <a:t>EXPECTATION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87168"/>
            <a:ext cx="11091672" cy="1524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3099815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70048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1C1C"/>
                </a:solidFill>
                <a:latin typeface="Arial"/>
              </a:rPr>
              <a:t>E-Bike Riders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70048"/>
            <a:ext cx="23774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C1C1C"/>
                </a:solidFill>
                <a:latin typeface="Arial"/>
              </a:rPr>
              <a:t>Annual membership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670048"/>
            <a:ext cx="28803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Short weekday e-bike trips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670048"/>
            <a:ext cx="2404872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Lead target — scale after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12463"/>
            <a:ext cx="11091672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4270248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80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1C1C"/>
                </a:solidFill>
                <a:latin typeface="Arial"/>
              </a:rPr>
              <a:t>Commute E-Bike Riders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840480"/>
            <a:ext cx="23774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C1C1C"/>
                </a:solidFill>
                <a:latin typeface="Arial"/>
              </a:rPr>
              <a:t>Membership + docking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840480"/>
            <a:ext cx="28803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Rush-hour, free-floating 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840480"/>
            <a:ext cx="2404872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Watch — infra may unlock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82896"/>
            <a:ext cx="11091672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5440680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10912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1C1C"/>
                </a:solidFill>
                <a:latin typeface="Arial"/>
              </a:rPr>
              <a:t>Classic Leisure Riders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010912"/>
            <a:ext cx="23774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C1C1C"/>
                </a:solidFill>
                <a:latin typeface="Arial"/>
              </a:rPr>
              <a:t>Weekend / seasonal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010912"/>
            <a:ext cx="28803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Long weekend recreational rides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5010912"/>
            <a:ext cx="2404872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Don't push annual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053328"/>
            <a:ext cx="11091672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07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READ WITH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1C1C"/>
                </a:solidFill>
                <a:latin typeface="Trebuchet MS"/>
              </a:rPr>
              <a:t>What this analysis can and cannot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486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C06A2C"/>
                </a:solidFill>
                <a:latin typeface="Trebuchet MS"/>
              </a:rPr>
              <a:t>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95728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359152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Ride-level, not person-level — no user IDs; segments describe behaviour, not individuals.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163824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Similarity is structural, not a conversion guarantee — price and habit aren't in this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05072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968496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Volume counts rides — frequent riders are over-represented in segment sizes.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09744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773168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Segments are soft regions, not sharp groups; 'commute' is a proxy for intent.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74519"/>
            <a:ext cx="5239512" cy="406908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148840"/>
            <a:ext cx="4663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2962A6"/>
                </a:solidFill>
                <a:latin typeface="Trebuchet MS"/>
              </a:rPr>
              <a:t>TO SHARPEN THE NEXT ROUND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8437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3448" y="27706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Arial"/>
              </a:rPr>
              <a:t>User 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3108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77382"/>
                </a:solidFill>
                <a:latin typeface="Arial"/>
              </a:rPr>
              <a:t>Segment by person, not by ride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803903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3448" y="373075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Arial"/>
              </a:rPr>
              <a:t>Survey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4069079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77382"/>
                </a:solidFill>
                <a:latin typeface="Arial"/>
              </a:rPr>
              <a:t>Validate intent behind the behaviour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764023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469087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Arial"/>
              </a:rPr>
              <a:t>Conversion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5029199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77382"/>
                </a:solidFill>
                <a:latin typeface="Arial"/>
              </a:rPr>
              <a:t>Calibrate similarity against real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148840"/>
            <a:ext cx="502920" cy="64008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00">
                <a:solidFill>
                  <a:srgbClr val="C06A2C"/>
                </a:solidFill>
                <a:latin typeface="Trebuchet MS"/>
              </a:rPr>
              <a:t>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09728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C1C1C"/>
                </a:solidFill>
                <a:latin typeface="Trebuchet MS"/>
              </a:rPr>
              <a:t>Run a controlled membership campaign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C1C1C"/>
                </a:solidFill>
                <a:latin typeface="Trebuchet MS"/>
              </a:rPr>
              <a:t>on </a:t>
            </a:r>
            <a:r>
              <a:rPr sz="3400" b="1" i="0">
                <a:solidFill>
                  <a:srgbClr val="C06A2C"/>
                </a:solidFill>
                <a:latin typeface="Trebuchet MS"/>
              </a:rPr>
              <a:t>E-Bike Riders</a:t>
            </a:r>
            <a:r>
              <a:rPr sz="3400" b="1" i="0">
                <a:solidFill>
                  <a:srgbClr val="1C1C1C"/>
                </a:solidFill>
                <a:latin typeface="Trebuchet MS"/>
              </a:rPr>
              <a:t> — then scale on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9204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77382"/>
                </a:solidFill>
                <a:latin typeface="Arial"/>
              </a:rPr>
              <a:t>Largest, most member-like casual segment. Pair the test with a weekend-pass offer for </a:t>
            </a:r>
            <a:r>
              <a:rPr sz="1500" b="0" i="0">
                <a:solidFill>
                  <a:srgbClr val="C06A2C"/>
                </a:solidFill>
                <a:latin typeface="Arial"/>
              </a:rPr>
              <a:t>Classic Leisure Riders</a:t>
            </a:r>
            <a:r>
              <a:rPr sz="1500" b="0" i="0">
                <a:solidFill>
                  <a:srgbClr val="677382"/>
                </a:solidFill>
                <a:latin typeface="Arial"/>
              </a:rPr>
              <a:t> and a docking pilot for </a:t>
            </a:r>
            <a:r>
              <a:rPr sz="1500" b="0" i="0">
                <a:solidFill>
                  <a:srgbClr val="C06A2C"/>
                </a:solidFill>
                <a:latin typeface="Arial"/>
              </a:rPr>
              <a:t>Commute E-Bike Riders</a:t>
            </a:r>
            <a:r>
              <a:rPr sz="1500" b="0" i="0">
                <a:solidFill>
                  <a:srgbClr val="677382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8704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80644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06A2C"/>
                </a:solidFill>
                <a:latin typeface="Arial"/>
              </a:rPr>
              <a:t>Casual riders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58704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5806440"/>
            <a:ext cx="2560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962A6"/>
                </a:solidFill>
                <a:latin typeface="Arial"/>
              </a:rPr>
              <a:t>Annual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23620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100">
                <a:solidFill>
                  <a:srgbClr val="677382"/>
                </a:solidFill>
                <a:latin typeface="Trebuchet MS"/>
              </a:rPr>
              <a:t>Cyclistic Analytics  ·  Divvy public data  ·  Jun 2025 –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— Casual-to-Member Conversion (Executive)</dc:title>
  <dc:subject/>
  <dc:creator>Cyclistic Analytics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